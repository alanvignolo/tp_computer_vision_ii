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1"/>
  </p:notesMasterIdLst>
  <p:sldIdLst>
    <p:sldId id="328" r:id="rId2"/>
    <p:sldId id="329" r:id="rId3"/>
    <p:sldId id="308" r:id="rId4"/>
    <p:sldId id="309" r:id="rId5"/>
    <p:sldId id="310" r:id="rId6"/>
    <p:sldId id="311" r:id="rId7"/>
    <p:sldId id="318" r:id="rId8"/>
    <p:sldId id="319" r:id="rId9"/>
    <p:sldId id="320" r:id="rId10"/>
    <p:sldId id="312" r:id="rId11"/>
    <p:sldId id="313" r:id="rId12"/>
    <p:sldId id="314" r:id="rId13"/>
    <p:sldId id="315" r:id="rId14"/>
    <p:sldId id="316" r:id="rId15"/>
    <p:sldId id="317" r:id="rId16"/>
    <p:sldId id="321" r:id="rId17"/>
    <p:sldId id="322" r:id="rId18"/>
    <p:sldId id="323" r:id="rId19"/>
    <p:sldId id="32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Light" panose="020F0502020204030203" pitchFamily="34" charset="0"/>
      <p:regular r:id="rId26"/>
      <p:italic r:id="rId27"/>
    </p:embeddedFont>
    <p:embeddedFont>
      <p:font typeface="Sora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44B7D0-0B40-406A-AA36-A9B8A0F0D941}">
  <a:tblStyle styleId="{0044B7D0-0B40-406A-AA36-A9B8A0F0D9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32" y="6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-5400000" flipH="1">
            <a:off x="-1741502" y="1903025"/>
            <a:ext cx="4581000" cy="342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subTitle" idx="2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3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8" r:id="rId6"/>
    <p:sldLayoutId id="2147483673" r:id="rId7"/>
    <p:sldLayoutId id="2147483674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699" y="1061225"/>
            <a:ext cx="4691025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AR" sz="3200" dirty="0"/>
              <a:t>Detección de grietas en superficies de infraestructura civil</a:t>
            </a:r>
            <a:endParaRPr sz="3200" dirty="0"/>
          </a:p>
        </p:txBody>
      </p:sp>
      <p:cxnSp>
        <p:nvCxnSpPr>
          <p:cNvPr id="370" name="Google Shape;370;p33"/>
          <p:cNvCxnSpPr>
            <a:cxnSpLocks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8"/>
            <a:chOff x="713228" y="756273"/>
            <a:chExt cx="2795593" cy="3610858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8"/>
              <a:chOff x="293087" y="273641"/>
              <a:chExt cx="3511170" cy="4535115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68;p33">
            <a:extLst>
              <a:ext uri="{FF2B5EF4-FFF2-40B4-BE49-F238E27FC236}">
                <a16:creationId xmlns:a16="http://schemas.microsoft.com/office/drawing/2014/main" id="{BB5F5ED1-3B5B-CBFD-B699-C0557E80B065}"/>
              </a:ext>
            </a:extLst>
          </p:cNvPr>
          <p:cNvSpPr txBox="1">
            <a:spLocks/>
          </p:cNvSpPr>
          <p:nvPr/>
        </p:nvSpPr>
        <p:spPr>
          <a:xfrm>
            <a:off x="4161455" y="3105227"/>
            <a:ext cx="4260000" cy="83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4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 spc="0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AR" sz="1400" dirty="0"/>
              <a:t>Agustín Biancardi</a:t>
            </a:r>
          </a:p>
          <a:p>
            <a:r>
              <a:rPr lang="es-AR" sz="1400" dirty="0"/>
              <a:t>Gabriel Quiroga</a:t>
            </a:r>
          </a:p>
          <a:p>
            <a:r>
              <a:rPr lang="es-AR" sz="1400" dirty="0"/>
              <a:t>Alan Vignolo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2AE7908-BB78-406A-BC4C-A52722BA1A42}"/>
              </a:ext>
            </a:extLst>
          </p:cNvPr>
          <p:cNvSpPr txBox="1"/>
          <p:nvPr/>
        </p:nvSpPr>
        <p:spPr>
          <a:xfrm>
            <a:off x="4157699" y="129925"/>
            <a:ext cx="5020355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s-AR" sz="1400" dirty="0">
                <a:solidFill>
                  <a:srgbClr val="134F5C"/>
                </a:solidFill>
              </a:rPr>
              <a:t>Universidad de Buenos Aires</a:t>
            </a:r>
            <a:r>
              <a:rPr lang="es-AR" dirty="0">
                <a:solidFill>
                  <a:srgbClr val="134F5C"/>
                </a:solidFill>
              </a:rPr>
              <a:t> — Facultad </a:t>
            </a:r>
            <a:r>
              <a:rPr lang="es-AR" sz="1400" dirty="0">
                <a:solidFill>
                  <a:srgbClr val="134F5C"/>
                </a:solidFill>
              </a:rPr>
              <a:t>de Ingeniería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s-AR" sz="1400" dirty="0">
                <a:solidFill>
                  <a:srgbClr val="134F5C"/>
                </a:solidFill>
              </a:rPr>
              <a:t>CEIA — Visión por Computadora II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C2DF52-9E4D-CFDA-1A4B-334F8D59FC45}"/>
              </a:ext>
            </a:extLst>
          </p:cNvPr>
          <p:cNvSpPr txBox="1"/>
          <p:nvPr/>
        </p:nvSpPr>
        <p:spPr>
          <a:xfrm>
            <a:off x="4752975" y="59055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4656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9DB7A-47B9-B60F-36FB-EFBB250D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Agenda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D7734-1A58-0FBA-A853-BD42FCD4B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sz="1400" dirty="0"/>
              <a:t>Contexto del problema, trabajos previos y dataset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961AB4DA-B006-8E34-D80B-5CC768716912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s-AR" sz="1400" dirty="0"/>
              <a:t>Entrenamiento de </a:t>
            </a:r>
            <a:r>
              <a:rPr lang="es-AR" dirty="0"/>
              <a:t>U-Net, </a:t>
            </a:r>
            <a:r>
              <a:rPr lang="es-AR" sz="1400" dirty="0"/>
              <a:t>YOLO</a:t>
            </a:r>
            <a:r>
              <a:rPr lang="es-AR" dirty="0"/>
              <a:t> y</a:t>
            </a:r>
            <a:r>
              <a:rPr lang="es-AR" sz="1400" dirty="0"/>
              <a:t> </a:t>
            </a:r>
            <a:r>
              <a:rPr lang="es-AR" sz="1400" dirty="0" err="1"/>
              <a:t>Fast</a:t>
            </a:r>
            <a:r>
              <a:rPr lang="es-AR" sz="1400" dirty="0"/>
              <a:t>-SCNN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871F53A-1746-2B11-0323-FB54A63957E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es-AR" sz="1400" dirty="0"/>
              <a:t>Resultados por modelo y comparación final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8CB50E9-3F9E-97C3-AB31-EB51916D33FA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s-AR" sz="1400" dirty="0"/>
              <a:t>Conclusiones y trabajo futuro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10271204-2EB9-CDCE-E364-DA2FA142F387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pPr algn="ctr"/>
            <a:r>
              <a:rPr lang="es-AR" sz="1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A04C6ED6-629A-A6AD-2E08-0F4A1C8AC8E0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pPr algn="ctr"/>
            <a:r>
              <a:rPr lang="es-AR" sz="1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4FB5DEDB-DCE5-FE9E-ED12-F193531396DB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pPr algn="ctr"/>
            <a:r>
              <a:rPr lang="es-AR" sz="1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8470E9C6-C7FA-1CFB-7884-BB0CBBC3C9A2}"/>
              </a:ext>
            </a:extLst>
          </p:cNvPr>
          <p:cNvSpPr>
            <a:spLocks noGrp="1"/>
          </p:cNvSpPr>
          <p:nvPr>
            <p:ph type="title" idx="8"/>
          </p:nvPr>
        </p:nvSpPr>
        <p:spPr/>
        <p:txBody>
          <a:bodyPr/>
          <a:lstStyle/>
          <a:p>
            <a:pPr algn="ctr"/>
            <a:r>
              <a:rPr lang="es-AR" sz="1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0BF6B215-BF15-09DC-7413-D42BD72EB2B4}"/>
              </a:ext>
            </a:extLst>
          </p:cNvPr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>
            <a:r>
              <a:rPr lang="es-AR" sz="1400" b="1" dirty="0"/>
              <a:t>Introducción y Dataset</a:t>
            </a:r>
          </a:p>
        </p:txBody>
      </p:sp>
      <p:sp>
        <p:nvSpPr>
          <p:cNvPr id="12" name="Subtítulo 11">
            <a:extLst>
              <a:ext uri="{FF2B5EF4-FFF2-40B4-BE49-F238E27FC236}">
                <a16:creationId xmlns:a16="http://schemas.microsoft.com/office/drawing/2014/main" id="{7F3FA2CB-D0E3-D9BF-881E-971C38472A7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s-AR" sz="1400" b="1" dirty="0"/>
              <a:t>Modelos evaluados</a:t>
            </a:r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A01E5589-EAA3-3B97-74A1-FA19302DD9F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s-AR" sz="1400" b="1" dirty="0"/>
              <a:t>Resultados y comparación</a:t>
            </a:r>
          </a:p>
        </p:txBody>
      </p:sp>
      <p:sp>
        <p:nvSpPr>
          <p:cNvPr id="14" name="Subtítulo 13">
            <a:extLst>
              <a:ext uri="{FF2B5EF4-FFF2-40B4-BE49-F238E27FC236}">
                <a16:creationId xmlns:a16="http://schemas.microsoft.com/office/drawing/2014/main" id="{29E73D98-7707-A152-3DE3-E32254E58905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es-AR" sz="1400" b="1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81936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89C3C-3E84-BF32-35EE-7C0AC2CDD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Introducción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FED90D-9033-77D6-31CC-EB3768D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188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A1200-87A4-EAFA-412F-2CD86A46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Dataset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4A87F5-C86D-A26F-AF6A-CCA8C946BF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7B3FC78C-1C01-1191-AF29-31FECCC51E8B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0FFC8DD-D170-D7A9-C328-15653B312580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7EE058D8-3441-3D3F-5938-96746BF0DA5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746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3D344-E9FF-3392-C953-5165DBBA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Trabajos previos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5F633E-B73A-EB84-BBC4-CBCD45EFD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1217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0DA7DCD1-E481-48D0-7354-CCDD68473F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FCA34-E6FF-9145-E175-7E3E3026227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CA17C2-D540-3488-8A59-150CF938DA4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A7EC86D-8ECC-8258-16F4-6E11DC17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Metodología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727E802B-BC00-FB52-4AD4-32DC74330B7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E5361F2-6D98-AB9A-3872-986D1326ED3A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059FFF80-FCA5-15E8-1773-79E764C40E08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639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E3BCE-CCF6-65C0-3CF1-7DA48EABC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U-Net — Entrenamiento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2011F-BBBB-C841-B49A-64D115A39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215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7322-0D57-3ECB-C723-42A657D8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U-Net — Resultados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BC00C6-6EC4-E4BD-6C7D-970D9BB3D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E20D5941-C230-BDF9-7FDC-D596C42883F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EF38713-F4C7-79D1-C646-562B90B82F01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2285B617-0FE0-710A-53FF-A1439EB6ACD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52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48010-EC8A-85C5-A34A-E8A4D347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U-Net — Mejoras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07C3D7-2789-BED1-C428-9B377D28F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196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FF9BA-3B05-4361-5DAC-D39A715D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YOLO — Entrenamiento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FC027E-F4B6-3596-1A48-F92B757F7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385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D12D2-6D15-B33C-D8BF-C9FF9F78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YOLO — Resultados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9D5B4E-6187-0254-13D0-0E958BD68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4CBC828-6FE1-8A81-045B-3F2E4A85135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05151E2-B177-C45E-DB92-62FCE9F7A68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83041D46-870A-463B-98E0-35BC6E4E9B1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797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17556-D481-9CFC-A60B-37E3F3E4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YOLO — Mejoras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40D842-7F56-E216-BA96-30EDE0853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327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41742-9F4E-A87A-50B6-AEA5DE24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Fast-SCNN — Entrenamiento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89D847-05AE-C75F-4815-485F1BAA5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0142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ECB28-93B8-60FC-DFA2-0E2ECE1D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Fast-SCNN — Resultados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AE1653-EF7A-0333-3F1C-9EF64874F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1E5D7513-9BF6-6B48-2E13-82A7CB1D1F8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D947B85-7EE8-72AB-6170-30F21B63250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74DD9191-5F7E-45CF-47E8-A28E514B86A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2753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E7A49-4C40-D5A9-15AD-61E8CCE83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Fast-SCNN — Mejoras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D25AC7-7E64-2A96-CE30-772C9E192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0233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8ABAFB88-ADCF-8011-B4E9-DB1CD1F84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967440-F00C-1EC6-14B9-D90DAFE2849B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5396A97-13EE-F0EA-7963-A26DF8C69DF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ED660F-2B4F-CC7C-04A7-26971A6C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Comparación de los 3 modelos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B8B7D9A-DE8D-1DA6-63E6-214E5CBC1CD6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EADAF12-E3E1-5692-659E-B7DEF3038790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92ED2E63-D056-119E-8323-73169EB8A722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935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72C7A-9057-093F-F18C-EA79EB75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Conclusiones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8F8416-9B95-E826-B37E-87A1895ED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1148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ADD05-A7E3-10DF-D2F8-85FAA87B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Trabajo futuro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A1A9D-EC87-5080-0A11-A49035621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9817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7B0BC-D956-A46A-BCE8-23D43024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¡Gracias!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40DD5B-61EE-7E7D-4672-5F0F2F88E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4852546"/>
      </p:ext>
    </p:extLst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E511946-7FF3-4C85-8769-CD7BAFCCB53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82fbfc2-9bfd-47b4-aa28-6163b2ca6d0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111</Words>
  <Application>Microsoft Office PowerPoint</Application>
  <PresentationFormat>Presentación en pantalla (16:9)</PresentationFormat>
  <Paragraphs>37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Lato Light</vt:lpstr>
      <vt:lpstr>Sora</vt:lpstr>
      <vt:lpstr>Lato</vt:lpstr>
      <vt:lpstr>AI Essentials Workshop by Slidesgo</vt:lpstr>
      <vt:lpstr>Detección de grietas en superficies de infraestructura civil</vt:lpstr>
      <vt:lpstr>Agenda</vt:lpstr>
      <vt:lpstr>Introducción</vt:lpstr>
      <vt:lpstr>Dataset</vt:lpstr>
      <vt:lpstr>Trabajos previos</vt:lpstr>
      <vt:lpstr>Metodología</vt:lpstr>
      <vt:lpstr>U-Net — Entrenamiento</vt:lpstr>
      <vt:lpstr>U-Net — Resultados</vt:lpstr>
      <vt:lpstr>U-Net — Mejoras</vt:lpstr>
      <vt:lpstr>YOLO — Entrenamiento</vt:lpstr>
      <vt:lpstr>YOLO — Resultados</vt:lpstr>
      <vt:lpstr>YOLO — Mejoras</vt:lpstr>
      <vt:lpstr>Fast-SCNN — Entrenamiento</vt:lpstr>
      <vt:lpstr>Fast-SCNN — Resultados</vt:lpstr>
      <vt:lpstr>Fast-SCNN — Mejoras</vt:lpstr>
      <vt:lpstr>Comparación de los 3 modelos</vt:lpstr>
      <vt:lpstr>Conclusiones</vt:lpstr>
      <vt:lpstr>Trabajo futuro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Alan Vignolo</dc:creator>
  <cp:lastModifiedBy>Alan Vignolo</cp:lastModifiedBy>
  <cp:revision>5</cp:revision>
  <dcterms:modified xsi:type="dcterms:W3CDTF">2026-08-12T19:37:01Z</dcterms:modified>
</cp:coreProperties>
</file>